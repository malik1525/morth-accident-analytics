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Say: multi-level analysis 2018-2024, 254 state-years, association not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487,707 accidents, 177,175 deaths (2024); severity 36.33 rising. NOT risk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counts without exposure denominators; fragmented vintages. NOT policy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prior work rarely combines reconciliation, geography, denominators.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RQ1-RQ11. Say: observational framing. NOT causal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1-13. Say: one line each as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Framework flow. Say each stage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sources. Say: benchmark primary; NCRB separate vintage; IMD 236 matched/18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Validation. Say: 0 benchmark mismatches; reconciliations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Trends +3.7%/+12.4%; 2020 dip; slopes ns. NOT risk rising (no denominator).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Friedman p=3e-4 descriptive; NOT zone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Pooled r values + FDR; N=236; NOT heat/rain causes accidents.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Temporal granularity; hour/day unavailable in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NCRB May 8.84/Jul 7.46; separate vintage; NOT climate seasons.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Weather associations as listed; NOT causal.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Severity shares; NOT X causes deaths or most dangerous.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Methods + FDR; NOT p-hacked.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Naive wins both targets (1038.6 vs 2148.6); null is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K=2 by silhouette 0.356; NOT high-risk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Statistics framework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 method: train 2019-22 N=141, test 2023-24 N=72, lag-only, no test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 results: naive beats all; GBR overfit. Honest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K-means descriptive profiles; ARI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Binding gaps (vehicle stock, microdata); NOT future work fixes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Conclusion: counts are not risk, association is not cause, persistence beat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Data-Driven Road Traffic Accident Analysis in India</a:t>
            </a:r>
          </a:p>
          <a:p>
            <a:r>
              <a:t>Master title + candidate/guide/institute/2026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Counts without exposure; fragmented vintages; no microdata.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Evidence-linked analytics + reusable upload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RQ1-RQ11 (observational framing).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 objectives (trends, geography, weather, causes, validation, ML, clustering, limits).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Discover-Veriy-Preserve-Audit-Harmonize-Analyze-Validate-Model-Synthesize.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Benchmark 254 obs; history conditional; NCRB separate; IMD 236 matched; 7 modules; TN.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 benchmark mismatches; 12/12 history; NCRB sections exact; TN sums exact.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India-Level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+3.7% acc / +12.4% fat; 2020 dip; slopes ns.</a:t>
            </a:r>
          </a:p>
        </p:txBody>
      </p:sp>
      <p:pic>
        <p:nvPicPr>
          <p:cNvPr id="4" name="Picture 3" descr="F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Geographical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38 entities; heterogeneity; no rankings.</a:t>
            </a:r>
          </a:p>
        </p:txBody>
      </p:sp>
      <p:pic>
        <p:nvPicPr>
          <p:cNvPr id="4" name="Picture 3" descr="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Zone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Friedman p=3.0e-4 descriptive; zone trends.</a:t>
            </a:r>
          </a:p>
        </p:txBody>
      </p:sp>
      <p:pic>
        <p:nvPicPr>
          <p:cNvPr id="4" name="Picture 3" descr="F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Slopes mostly non-detectable (N=7); CIs wide.</a:t>
            </a:r>
          </a:p>
        </p:txBody>
      </p:sp>
      <p:pic>
        <p:nvPicPr>
          <p:cNvPr id="4" name="Picture 3" descr="F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Temporal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Annual fluctuation; YoY table.</a:t>
            </a:r>
          </a:p>
        </p:txBody>
      </p:sp>
      <p:pic>
        <p:nvPicPr>
          <p:cNvPr id="4" name="Picture 3" descr="F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Seasonal/NCRB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May 8.84% / Jul 7.46% (NCRB vintage).</a:t>
            </a:r>
          </a:p>
        </p:txBody>
      </p:sp>
      <p:pic>
        <p:nvPicPr>
          <p:cNvPr id="4" name="Picture 3" descr="F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Weather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Rain -0.234/-0.376; Tmax +0.452/+0.498; never causal.</a:t>
            </a:r>
          </a:p>
        </p:txBody>
      </p:sp>
      <p:pic>
        <p:nvPicPr>
          <p:cNvPr id="4" name="Picture 3" descr="F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Severity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33.50 to 36.33 per 100 accidents.</a:t>
            </a:r>
          </a:p>
        </p:txBody>
      </p:sp>
      <p:pic>
        <p:nvPicPr>
          <p:cNvPr id="4" name="Picture 3" descr="F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Violations/Causes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Over-speeding 70.3% of deaths (reported category).</a:t>
            </a:r>
          </a:p>
        </p:txBody>
      </p:sp>
      <p:pic>
        <p:nvPicPr>
          <p:cNvPr id="4" name="Picture 3" descr="F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Collision/Road-User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Hit from Back leads; two-wheelers 46.2% (counts).</a:t>
            </a:r>
          </a:p>
        </p:txBody>
      </p:sp>
      <p:pic>
        <p:nvPicPr>
          <p:cNvPr id="4" name="Picture 3" descr="F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Licence/Safety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Valid licence 68.2%; no-helmet 54,122 toll (reported).</a:t>
            </a:r>
          </a:p>
        </p:txBody>
      </p:sp>
      <p:pic>
        <p:nvPicPr>
          <p:cNvPr id="4" name="Picture 3" descr="F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Statistical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OLS/CI, Pearson+Spearman, chi2, Friedman, BH-FDR.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Lag-only; train 2019-22 N=141; test 2023-24 N=72; naive baseline.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Naive RMSE 1038.6/286.3 beats ALL trained (honest null).</a:t>
            </a:r>
          </a:p>
        </p:txBody>
      </p:sp>
      <p:pic>
        <p:nvPicPr>
          <p:cNvPr id="4" name="Picture 3" descr="F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K=2, silhouette 0.356, descriptive labels.</a:t>
            </a:r>
          </a:p>
        </p:txBody>
      </p:sp>
      <p:pic>
        <p:nvPicPr>
          <p:cNvPr id="4" name="Picture 3" descr="F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9436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Limitations +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Vehicle stock, microdata, N=213; 10 contributions.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Conclusion +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Counts are not risk; associations are not causes; analytical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