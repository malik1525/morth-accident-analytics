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sz="1100" b="1">
                <a:solidFill>
                  <a:srgbClr val="FFFFFF"/>
                </a:solidFill>
              </a:rPr>
              <a:t>A Multi-Level Data-Driven Analysis of Road Traffic Accidents in India</a:t>
            </a:r>
          </a:p>
          <a:p>
            <a:pPr>
              <a:defRPr sz="1100"/>
            </a:pPr>
            <a:r>
              <a:rPr sz="1100" b="0">
                <a:solidFill>
                  <a:srgbClr val="FFFFFF"/>
                </a:solidFill>
              </a:rPr>
              <a:t>Geographical, Temporal, Seasonal, Environmental and Severity Assessment  |  B.Tech ECE, Lovely Professional University  |  MoRTH 2018-2024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sz="1000" b="1">
                <a:solidFill>
                  <a:srgbClr val="2DD4BF"/>
                </a:solidFill>
              </a:rPr>
              <a:t>PROBLEM + QUESTION +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3566160" cy="105156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Validated multi-level framework over 254 state-years (38 entities). RQ: how do geographical, temporal, seasonal, environmental and severity factors associate with accidents? Observational: association, not causation.</a:t>
            </a:r>
          </a:p>
          <a:p>
            <a:pPr>
              <a:defRPr sz="700"/>
            </a:pPr>
            <a:r>
              <a:rPr sz="700" b="1">
                <a:solidFill>
                  <a:srgbClr val="FFFFFF"/>
                </a:solidFill>
              </a:rPr>
              <a:t>254 STATE-YEARS  |  38 ENTITIES  |  236 WEATHER MATCHED / 18 EXCLUDED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3566160" cy="109728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1">
                <a:solidFill>
                  <a:srgbClr val="FFFFFF"/>
                </a:solidFill>
              </a:rPr>
              <a:t>2024: 487,707 ACCIDENTS  |  177,175 FATALITIES  |  471,441 INJURED (India-level)</a:t>
            </a:r>
          </a:p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MoRTH benchmark primary; NCRB 2024 monthly separate vintage; IMD rain/Tmax/Tmin; 7 supporting modules; TN districts; history 2014-17 CONDITIONAL.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3566160" cy="91440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520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INDIA &gt; 6 ZONES &gt; STATES/UTs &gt; TEMPORAL &gt; WEATHER &gt; CAUSE &gt; SEVERITY &gt; STATISTICS &gt; ML/CLUSTERING &gt;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480560"/>
            <a:ext cx="3566160" cy="14630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LIMITS (REQUIRED): associations are not causes; counts are not risk; NCRB separate; history conditional; 2023-24 state injuries N/A; vehicle stock/AADT unavailable; ML did not beat naive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777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sz="1000" b="1">
                <a:solidFill>
                  <a:srgbClr val="2DD4BF"/>
                </a:solidFill>
              </a:rPr>
              <a:t>KEY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143000"/>
            <a:ext cx="3840480" cy="12344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188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INDIA: 470,403&gt;487,707 acc (+3.7%); 157,593&gt;177,175 fat (+12.4%); ratio 33.50&gt;36.33. 2020 dip+recovery. OLS slopes ns.</a:t>
            </a:r>
          </a:p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Friedman X2=25.29 p=3.0e-4 W=0.72 (zones differ, no ranking). States: acc 17+/15-/6~; fat 26+/10-/2~.</a:t>
            </a:r>
          </a:p>
        </p:txBody>
      </p:sp>
      <p:pic>
        <p:nvPicPr>
          <p:cNvPr id="16" name="Picture 15" descr="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1737360" cy="10972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14800" y="2468880"/>
            <a:ext cx="3840480" cy="12344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514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WEATHER (N=236): rain r=-0.234/-0.376; Tmax +0.452/+0.498; Tmin +0.366/+0.340. Severity: null. Associations only.</a:t>
            </a:r>
          </a:p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NCRB 2024: May 8.84%, Jul 7.46%, X2=1276. Monthly distribution, not climate seasons.</a:t>
            </a:r>
          </a:p>
        </p:txBody>
      </p:sp>
      <p:pic>
        <p:nvPicPr>
          <p:cNvPr id="19" name="Picture 18" descr="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14600"/>
            <a:ext cx="1737360" cy="1097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114800" y="3794760"/>
            <a:ext cx="3840480" cy="12344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840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Overspeeding 70.7% acc / 70.3% fat (reported category). Hit from Back most frequent; Hit-and-Run ratio ~0.50.</a:t>
            </a:r>
          </a:p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Two-wheelers 46.2%, pedestrians 20.6% of deaths (shares, not risk). Valid licence 68.2%. No-helmet 54,122; no-seatbelt 14,466.</a:t>
            </a:r>
          </a:p>
        </p:txBody>
      </p:sp>
      <p:pic>
        <p:nvPicPr>
          <p:cNvPr id="22" name="Picture 21" descr="F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840480"/>
            <a:ext cx="173736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0" y="777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sz="1000" b="1">
                <a:solidFill>
                  <a:srgbClr val="2DD4BF"/>
                </a:solidFill>
              </a:rPr>
              <a:t>ML + CLUSTERING +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143000"/>
            <a:ext cx="3566160" cy="12344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188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State-Year: train 2019-22 N=141, test 2023-24 N=72. 5 supervised models vs naive persistence.</a:t>
            </a:r>
          </a:p>
          <a:p>
            <a:pPr>
              <a:defRPr sz="700"/>
            </a:pPr>
            <a:r>
              <a:rPr sz="700" b="1">
                <a:solidFill>
                  <a:srgbClr val="FFFFFF"/>
                </a:solidFill>
              </a:rPr>
              <a:t>NAIVE WINS: acc RMSE 1038.6, fat 286.3 beat ALL trained. GBR train R2~1.0 = overfit. Honest null.</a:t>
            </a:r>
          </a:p>
        </p:txBody>
      </p:sp>
      <p:pic>
        <p:nvPicPr>
          <p:cNvPr id="26" name="Picture 25" descr="F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1188720"/>
            <a:ext cx="1280160" cy="10972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29600" y="2468880"/>
            <a:ext cx="3566160" cy="100584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5146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K-MEANS (unsupervised): K=2, silhouette 0.356, sizes 17/6. Descriptive profiles only; never high-risk labels.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566160"/>
            <a:ext cx="3566160" cy="914400"/>
          </a:xfrm>
          <a:prstGeom prst="roundRect">
            <a:avLst/>
          </a:prstGeom>
          <a:solidFill>
            <a:srgbClr val="1C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611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APP: verified data &gt; validation &gt; analytics &gt; stats &gt; ML &gt; GIS. Live platform below.</a:t>
            </a:r>
          </a:p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CONTRIBUTIONS: benchmark, harmonization, weather, nulls, provenance, platform.</a:t>
            </a:r>
          </a:p>
        </p:txBody>
      </p:sp>
      <p:pic>
        <p:nvPicPr>
          <p:cNvPr id="31" name="Picture 30" descr="qr_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3611880"/>
            <a:ext cx="731520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378440" y="4343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/>
            </a:pPr>
            <a:r>
              <a:rPr sz="600" b="0">
                <a:solidFill>
                  <a:srgbClr val="FFFFFF"/>
                </a:solidFill>
              </a:rPr>
              <a:t>Live Analytics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0350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AAB9CD"/>
                </a:solidFill>
              </a:rPr>
              <a:t>Primary: MoRTH 2018-2024  |  Supporting: MoRTH 2024, NCRB ADSI 2024, IMD, PIB/Govt  |  Mirrors identified  |  https://morth-accident-analytics.onrender.com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/>
            </a:pPr>
            <a:r>
              <a:rPr sz="700" b="0">
                <a:solidFill>
                  <a:srgbClr val="FFFFFF"/>
                </a:solidFill>
              </a:rPr>
              <a:t>Conclusion: reproducible multi-level framework; patterns identified with vintages separated and limits documented; foundation for accident-level/exposure/GIS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